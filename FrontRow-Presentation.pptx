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34440"/>
            <a:ext cx="8138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pPr algn="ctr" indent="0" marL="0">
              <a:buNone/>
            </a:pPr>
            <a:r>
              <a:rPr lang="en-US" sz="6600" b="1" i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502920" y="24688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front row seats to the best events.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88720" y="30632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discovery &amp; ticketing platform — discover concerts, festivals and live events,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instantly, check in with a QR code.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023360" y="3977640"/>
            <a:ext cx="1097280" cy="0"/>
          </a:xfrm>
          <a:prstGeom prst="line">
            <a:avLst/>
          </a:prstGeom>
          <a:noFill/>
          <a:ln w="19050">
            <a:solidFill>
              <a:srgbClr val="6C5CE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416052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[Presenter name]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Are Easy to Love, Hard to Run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3977640" cy="1664208"/>
          </a:xfrm>
          <a:prstGeom prst="roundRect">
            <a:avLst>
              <a:gd name="adj" fmla="val 3846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45920"/>
            <a:ext cx="41148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1051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discovery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17627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are scattered across sites and feeds — easy to miss, hard to compare.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3977640" cy="1664208"/>
          </a:xfrm>
          <a:prstGeom prst="roundRect">
            <a:avLst>
              <a:gd name="adj" fmla="val 3846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92040" y="1645920"/>
            <a:ext cx="41148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810512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Fraud-prone ticketing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92040" y="217627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tickets and screenshots are forgeable and clunky at the door.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218688"/>
            <a:ext cx="3977640" cy="1664208"/>
          </a:xfrm>
          <a:prstGeom prst="roundRect">
            <a:avLst>
              <a:gd name="adj" fmla="val 3846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493008"/>
            <a:ext cx="41148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65760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guidance after buying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" y="40233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wear, what is happening — attendees are on their own.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3218688"/>
            <a:ext cx="3977640" cy="1664208"/>
          </a:xfrm>
          <a:prstGeom prst="roundRect">
            <a:avLst>
              <a:gd name="adj" fmla="val 3846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92040" y="3493008"/>
            <a:ext cx="41148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9" name="Text 17"/>
          <p:cNvSpPr/>
          <p:nvPr/>
        </p:nvSpPr>
        <p:spPr>
          <a:xfrm>
            <a:off x="4892040" y="365760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Organizers fly blind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892040" y="402336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view of sales, revenue or abusive behavior.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for the Whole Event Lifecycle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1732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FrontRow is a full-stack platform covering the entire journey — for attendees and organizers alike.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331720"/>
            <a:ext cx="1408176" cy="1417320"/>
          </a:xfrm>
          <a:prstGeom prst="roundRect">
            <a:avLst>
              <a:gd name="adj" fmla="val 4545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2331720"/>
            <a:ext cx="1408176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2487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3108960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filters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892808" y="2788920"/>
            <a:ext cx="329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85416" y="2331720"/>
            <a:ext cx="1408176" cy="1417320"/>
          </a:xfrm>
          <a:prstGeom prst="roundRect">
            <a:avLst>
              <a:gd name="adj" fmla="val 4545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85416" y="2331720"/>
            <a:ext cx="1408176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4" name="Text 12"/>
          <p:cNvSpPr/>
          <p:nvPr/>
        </p:nvSpPr>
        <p:spPr>
          <a:xfrm>
            <a:off x="2295144" y="2487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31136" y="278892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231136" y="3108960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tickets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575304" y="2788920"/>
            <a:ext cx="329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867912" y="2331720"/>
            <a:ext cx="1408176" cy="1417320"/>
          </a:xfrm>
          <a:prstGeom prst="roundRect">
            <a:avLst>
              <a:gd name="adj" fmla="val 4545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7912" y="2331720"/>
            <a:ext cx="1408176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0" name="Text 18"/>
          <p:cNvSpPr/>
          <p:nvPr/>
        </p:nvSpPr>
        <p:spPr>
          <a:xfrm>
            <a:off x="3977640" y="2487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13632" y="278892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913632" y="3108960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outfits &amp; chat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57800" y="2788920"/>
            <a:ext cx="329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550408" y="2331720"/>
            <a:ext cx="1408176" cy="1417320"/>
          </a:xfrm>
          <a:prstGeom prst="roundRect">
            <a:avLst>
              <a:gd name="adj" fmla="val 4545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0408" y="2331720"/>
            <a:ext cx="1408176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6" name="Text 24"/>
          <p:cNvSpPr/>
          <p:nvPr/>
        </p:nvSpPr>
        <p:spPr>
          <a:xfrm>
            <a:off x="5660136" y="2487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596128" y="278892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596128" y="3108960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check-in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40296" y="2788920"/>
            <a:ext cx="329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232904" y="2331720"/>
            <a:ext cx="1408176" cy="1417320"/>
          </a:xfrm>
          <a:prstGeom prst="roundRect">
            <a:avLst>
              <a:gd name="adj" fmla="val 4545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32904" y="2331720"/>
            <a:ext cx="1408176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2" name="Text 30"/>
          <p:cNvSpPr/>
          <p:nvPr/>
        </p:nvSpPr>
        <p:spPr>
          <a:xfrm>
            <a:off x="7342632" y="2487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278624" y="2788920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278624" y="3108960"/>
            <a:ext cx="13167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stats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2920" y="41605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lives in the same product — one account, one source of truth.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Sides, One Platform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3977640" cy="3401568"/>
          </a:xfrm>
          <a:prstGeom prst="roundRect">
            <a:avLst>
              <a:gd name="adj" fmla="val 1882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5448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attendees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9808" y="2093976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0299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search events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" y="2478024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41401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ticket purchase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9808" y="2862072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7980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favorites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9808" y="3246120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318211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tickets in "My Tickets"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9808" y="3630168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56616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outfit suggestions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9808" y="4014216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395020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community chat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49808" y="4398264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0" name="Text 18"/>
          <p:cNvSpPr/>
          <p:nvPr/>
        </p:nvSpPr>
        <p:spPr>
          <a:xfrm>
            <a:off x="960120" y="433425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event statistics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63440" y="1371600"/>
            <a:ext cx="3977640" cy="3401568"/>
          </a:xfrm>
          <a:prstGeom prst="roundRect">
            <a:avLst>
              <a:gd name="adj" fmla="val 1882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155448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organizers &amp; admins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910328" y="2093976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4" name="Text 22"/>
          <p:cNvSpPr/>
          <p:nvPr/>
        </p:nvSpPr>
        <p:spPr>
          <a:xfrm>
            <a:off x="5120640" y="20299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&amp; ticket management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10328" y="2478024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6" name="Text 24"/>
          <p:cNvSpPr/>
          <p:nvPr/>
        </p:nvSpPr>
        <p:spPr>
          <a:xfrm>
            <a:off x="5120640" y="241401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check-in scanner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910328" y="2862072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27980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dashboard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910328" y="3246120"/>
            <a:ext cx="82296" cy="82296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0" y="318211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observations &amp; audit log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&amp; Booking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508760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&amp; filters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6916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location, date range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85416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939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pagination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682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page prefetched in the background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862072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706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dates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30449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ticket pools per event date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538728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4472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availability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37216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synced from real ticket rows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4215384"/>
            <a:ext cx="27432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12394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actions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4400" y="439826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purchase, personal favorites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74920" y="1417320"/>
            <a:ext cx="3566160" cy="3337560"/>
          </a:xfrm>
          <a:prstGeom prst="roundRect">
            <a:avLst>
              <a:gd name="adj" fmla="val 1918"/>
            </a:avLst>
          </a:prstGeom>
          <a:solidFill>
            <a:srgbClr val="221D42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0" y="1645920"/>
            <a:ext cx="3108960" cy="960120"/>
          </a:xfrm>
          <a:prstGeom prst="roundRect">
            <a:avLst>
              <a:gd name="adj" fmla="val 4762"/>
            </a:avLst>
          </a:prstGeom>
          <a:solidFill>
            <a:srgbClr val="6C5CE7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0" y="19842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03520" y="2743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Arena Tour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303520" y="304495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Bucharest  ·  Jul 12 — Jul 14  ·  from $89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03520" y="335584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 tickets available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303520" y="3840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6C5CE7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388620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NOW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95160" y="38862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Favorite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03520" y="436168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Browsing stays instant — the next page is already cached.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Ticketing &amp; Door Check-In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17320"/>
            <a:ext cx="329184" cy="329184"/>
          </a:xfrm>
          <a:prstGeom prst="ellipse">
            <a:avLst/>
          </a:prstGeom>
          <a:solidFill>
            <a:srgbClr val="221D4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4538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1417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confirmed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6916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unique check-in code is generated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093976"/>
            <a:ext cx="329184" cy="329184"/>
          </a:xfrm>
          <a:prstGeom prst="ellipse">
            <a:avLst/>
          </a:prstGeom>
          <a:solidFill>
            <a:srgbClr val="221D4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1305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20939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everywhere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3682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in "My Tickets" and emailed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770632"/>
            <a:ext cx="329184" cy="329184"/>
          </a:xfrm>
          <a:prstGeom prst="ellipse">
            <a:avLst/>
          </a:prstGeom>
          <a:solidFill>
            <a:srgbClr val="221D4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0720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770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door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3044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uploads or drags a photo of the QR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447288"/>
            <a:ext cx="329184" cy="329184"/>
          </a:xfrm>
          <a:prstGeom prst="ellipse">
            <a:avLst/>
          </a:prstGeom>
          <a:solidFill>
            <a:srgbClr val="221D42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8386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5840" y="3447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decoding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3721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rotation and phone-camera quirks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6C5CE7"/>
          </a:solidFill>
          <a:ln w="12700">
            <a:solidFill>
              <a:srgbClr val="6C5C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1605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1239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scan wins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439826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check-in is blocked automatically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532120" y="1508760"/>
            <a:ext cx="1737360" cy="173736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0" y="1645920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7" name="Shape 25"/>
          <p:cNvSpPr/>
          <p:nvPr/>
        </p:nvSpPr>
        <p:spPr>
          <a:xfrm>
            <a:off x="5878286" y="1645920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8" name="Shape 26"/>
          <p:cNvSpPr/>
          <p:nvPr/>
        </p:nvSpPr>
        <p:spPr>
          <a:xfrm>
            <a:off x="6087291" y="1645920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9" name="Shape 27"/>
          <p:cNvSpPr/>
          <p:nvPr/>
        </p:nvSpPr>
        <p:spPr>
          <a:xfrm>
            <a:off x="6505303" y="1645920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0" name="Shape 28"/>
          <p:cNvSpPr/>
          <p:nvPr/>
        </p:nvSpPr>
        <p:spPr>
          <a:xfrm>
            <a:off x="6714309" y="1645920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1" name="Shape 29"/>
          <p:cNvSpPr/>
          <p:nvPr/>
        </p:nvSpPr>
        <p:spPr>
          <a:xfrm>
            <a:off x="6923314" y="1645920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0" y="1854926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3" name="Shape 31"/>
          <p:cNvSpPr/>
          <p:nvPr/>
        </p:nvSpPr>
        <p:spPr>
          <a:xfrm>
            <a:off x="6087291" y="1854926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4" name="Shape 32"/>
          <p:cNvSpPr/>
          <p:nvPr/>
        </p:nvSpPr>
        <p:spPr>
          <a:xfrm>
            <a:off x="6505303" y="1854926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5" name="Shape 33"/>
          <p:cNvSpPr/>
          <p:nvPr/>
        </p:nvSpPr>
        <p:spPr>
          <a:xfrm>
            <a:off x="6923314" y="1854926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6" name="Shape 34"/>
          <p:cNvSpPr/>
          <p:nvPr/>
        </p:nvSpPr>
        <p:spPr>
          <a:xfrm>
            <a:off x="5669280" y="2063931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7" name="Shape 35"/>
          <p:cNvSpPr/>
          <p:nvPr/>
        </p:nvSpPr>
        <p:spPr>
          <a:xfrm>
            <a:off x="5878286" y="2063931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8" name="Shape 36"/>
          <p:cNvSpPr/>
          <p:nvPr/>
        </p:nvSpPr>
        <p:spPr>
          <a:xfrm>
            <a:off x="6087291" y="2063931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9" name="Shape 37"/>
          <p:cNvSpPr/>
          <p:nvPr/>
        </p:nvSpPr>
        <p:spPr>
          <a:xfrm>
            <a:off x="6505303" y="2063931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0" name="Shape 38"/>
          <p:cNvSpPr/>
          <p:nvPr/>
        </p:nvSpPr>
        <p:spPr>
          <a:xfrm>
            <a:off x="6714309" y="2063931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1" name="Shape 39"/>
          <p:cNvSpPr/>
          <p:nvPr/>
        </p:nvSpPr>
        <p:spPr>
          <a:xfrm>
            <a:off x="6923314" y="2063931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2" name="Shape 40"/>
          <p:cNvSpPr/>
          <p:nvPr/>
        </p:nvSpPr>
        <p:spPr>
          <a:xfrm>
            <a:off x="5878286" y="2481943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3" name="Shape 41"/>
          <p:cNvSpPr/>
          <p:nvPr/>
        </p:nvSpPr>
        <p:spPr>
          <a:xfrm>
            <a:off x="6296297" y="2481943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4" name="Shape 42"/>
          <p:cNvSpPr/>
          <p:nvPr/>
        </p:nvSpPr>
        <p:spPr>
          <a:xfrm>
            <a:off x="6714309" y="2481943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5" name="Shape 43"/>
          <p:cNvSpPr/>
          <p:nvPr/>
        </p:nvSpPr>
        <p:spPr>
          <a:xfrm>
            <a:off x="5669280" y="2690949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6" name="Shape 44"/>
          <p:cNvSpPr/>
          <p:nvPr/>
        </p:nvSpPr>
        <p:spPr>
          <a:xfrm>
            <a:off x="6087291" y="2690949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7" name="Shape 45"/>
          <p:cNvSpPr/>
          <p:nvPr/>
        </p:nvSpPr>
        <p:spPr>
          <a:xfrm>
            <a:off x="6296297" y="2690949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8" name="Shape 46"/>
          <p:cNvSpPr/>
          <p:nvPr/>
        </p:nvSpPr>
        <p:spPr>
          <a:xfrm>
            <a:off x="6505303" y="2690949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49" name="Shape 47"/>
          <p:cNvSpPr/>
          <p:nvPr/>
        </p:nvSpPr>
        <p:spPr>
          <a:xfrm>
            <a:off x="6923314" y="2690949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0" name="Shape 48"/>
          <p:cNvSpPr/>
          <p:nvPr/>
        </p:nvSpPr>
        <p:spPr>
          <a:xfrm>
            <a:off x="5669280" y="2899954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1" name="Shape 49"/>
          <p:cNvSpPr/>
          <p:nvPr/>
        </p:nvSpPr>
        <p:spPr>
          <a:xfrm>
            <a:off x="5878286" y="2899954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2" name="Shape 50"/>
          <p:cNvSpPr/>
          <p:nvPr/>
        </p:nvSpPr>
        <p:spPr>
          <a:xfrm>
            <a:off x="6296297" y="2899954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3" name="Shape 51"/>
          <p:cNvSpPr/>
          <p:nvPr/>
        </p:nvSpPr>
        <p:spPr>
          <a:xfrm>
            <a:off x="6714309" y="2899954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4" name="Shape 52"/>
          <p:cNvSpPr/>
          <p:nvPr/>
        </p:nvSpPr>
        <p:spPr>
          <a:xfrm>
            <a:off x="6923314" y="2899954"/>
            <a:ext cx="190718" cy="190718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55" name="Text 53"/>
          <p:cNvSpPr/>
          <p:nvPr/>
        </p:nvSpPr>
        <p:spPr>
          <a:xfrm>
            <a:off x="5074920" y="3383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unique code per purchase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5074920" y="3840480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074920" y="3840480"/>
            <a:ext cx="2651760" cy="54864"/>
          </a:xfrm>
          <a:prstGeom prst="rect">
            <a:avLst/>
          </a:prstGeom>
          <a:solidFill>
            <a:srgbClr val="00B894"/>
          </a:solidFill>
          <a:ln/>
        </p:spPr>
      </p:sp>
      <p:sp>
        <p:nvSpPr>
          <p:cNvPr id="58" name="Text 56"/>
          <p:cNvSpPr/>
          <p:nvPr/>
        </p:nvSpPr>
        <p:spPr>
          <a:xfrm>
            <a:off x="5257800" y="39319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— checked in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5074920" y="4389120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074920" y="4389120"/>
            <a:ext cx="2651760" cy="54864"/>
          </a:xfrm>
          <a:prstGeom prst="rect">
            <a:avLst/>
          </a:prstGeom>
          <a:solidFill>
            <a:srgbClr val="E84393"/>
          </a:solidFill>
          <a:ln/>
        </p:spPr>
      </p:sp>
      <p:sp>
        <p:nvSpPr>
          <p:cNvPr id="61" name="Text 59"/>
          <p:cNvSpPr/>
          <p:nvPr/>
        </p:nvSpPr>
        <p:spPr>
          <a:xfrm>
            <a:off x="5257800" y="4480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43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used — rejected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Inside the Product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17320"/>
            <a:ext cx="2587752" cy="3017520"/>
          </a:xfrm>
          <a:prstGeom prst="roundRect">
            <a:avLst>
              <a:gd name="adj" fmla="val 2473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2221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Outfit suggestions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looks per event category and style — top and bottom, with images.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3886200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links: H&amp;M  ·  Zara  ·  ASOS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78124" y="1417320"/>
            <a:ext cx="2587752" cy="3017520"/>
          </a:xfrm>
          <a:prstGeom prst="roundRect">
            <a:avLst>
              <a:gd name="adj" fmla="val 2473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78124" y="141732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2" name="Text 10"/>
          <p:cNvSpPr/>
          <p:nvPr/>
        </p:nvSpPr>
        <p:spPr>
          <a:xfrm>
            <a:off x="3461004" y="1645920"/>
            <a:ext cx="2221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moderation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61004" y="224028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message is classified for toxicity before it reaches the room.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61004" y="3886200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above 80% confidence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53328" y="1417320"/>
            <a:ext cx="2587752" cy="3017520"/>
          </a:xfrm>
          <a:prstGeom prst="roundRect">
            <a:avLst>
              <a:gd name="adj" fmla="val 2473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53328" y="141732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7" name="Text 15"/>
          <p:cNvSpPr/>
          <p:nvPr/>
        </p:nvSpPr>
        <p:spPr>
          <a:xfrm>
            <a:off x="6236208" y="1645920"/>
            <a:ext cx="2221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narratives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36208" y="224028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AI explanations of flagged user activity, for admins.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236208" y="3886200"/>
            <a:ext cx="22219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in the observation list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02920" y="461772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Hugging Face zero-shot inference — graceful fallback when unavailable.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&amp; Insights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417320"/>
            <a:ext cx="2587752" cy="3246120"/>
          </a:xfrm>
          <a:prstGeom prst="roundRect">
            <a:avLst>
              <a:gd name="adj" fmla="val 2473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41732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459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lobby chat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05740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chat over WebSockets, persisted in MongoDB.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78124" y="1417320"/>
            <a:ext cx="2587752" cy="3246120"/>
          </a:xfrm>
          <a:prstGeom prst="roundRect">
            <a:avLst>
              <a:gd name="adj" fmla="val 2473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78124" y="141732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1" name="Text 9"/>
          <p:cNvSpPr/>
          <p:nvPr/>
        </p:nvSpPr>
        <p:spPr>
          <a:xfrm>
            <a:off x="3461004" y="16459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statistics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61004" y="205740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dashboard — pie and bar charts of what is happening.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53328" y="1417320"/>
            <a:ext cx="2587752" cy="3246120"/>
          </a:xfrm>
          <a:prstGeom prst="roundRect">
            <a:avLst>
              <a:gd name="adj" fmla="val 2473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53328" y="141732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6459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36208" y="2057400"/>
            <a:ext cx="22219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cached locally; actions queued and synced when back online.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5800" y="3154680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221D42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" y="320954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at the show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325880" y="3639312"/>
            <a:ext cx="1554480" cy="365760"/>
          </a:xfrm>
          <a:prstGeom prst="roundRect">
            <a:avLst>
              <a:gd name="adj" fmla="val 30000"/>
            </a:avLst>
          </a:prstGeom>
          <a:solidFill>
            <a:srgbClr val="6C5CE7"/>
          </a:solidFill>
          <a:ln/>
        </p:spPr>
      </p:sp>
      <p:sp>
        <p:nvSpPr>
          <p:cNvPr id="20" name="Text 18"/>
          <p:cNvSpPr/>
          <p:nvPr/>
        </p:nvSpPr>
        <p:spPr>
          <a:xfrm>
            <a:off x="1435608" y="369417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row, obviously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98164" y="3749040"/>
            <a:ext cx="292608" cy="411480"/>
          </a:xfrm>
          <a:prstGeom prst="rect">
            <a:avLst/>
          </a:prstGeom>
          <a:solidFill>
            <a:srgbClr val="221D42"/>
          </a:solidFill>
          <a:ln/>
        </p:spPr>
      </p:sp>
      <p:sp>
        <p:nvSpPr>
          <p:cNvPr id="22" name="Shape 20"/>
          <p:cNvSpPr/>
          <p:nvPr/>
        </p:nvSpPr>
        <p:spPr>
          <a:xfrm>
            <a:off x="4055364" y="3383280"/>
            <a:ext cx="292608" cy="777240"/>
          </a:xfrm>
          <a:prstGeom prst="rect">
            <a:avLst/>
          </a:prstGeom>
          <a:solidFill>
            <a:srgbClr val="221D42"/>
          </a:solidFill>
          <a:ln/>
        </p:spPr>
      </p:sp>
      <p:sp>
        <p:nvSpPr>
          <p:cNvPr id="23" name="Shape 21"/>
          <p:cNvSpPr/>
          <p:nvPr/>
        </p:nvSpPr>
        <p:spPr>
          <a:xfrm>
            <a:off x="4512564" y="3611880"/>
            <a:ext cx="292608" cy="548640"/>
          </a:xfrm>
          <a:prstGeom prst="rect">
            <a:avLst/>
          </a:prstGeom>
          <a:solidFill>
            <a:srgbClr val="221D42"/>
          </a:solidFill>
          <a:ln/>
        </p:spPr>
      </p:sp>
      <p:sp>
        <p:nvSpPr>
          <p:cNvPr id="24" name="Shape 22"/>
          <p:cNvSpPr/>
          <p:nvPr/>
        </p:nvSpPr>
        <p:spPr>
          <a:xfrm>
            <a:off x="4969764" y="3200400"/>
            <a:ext cx="292608" cy="9601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5" name="Text 23"/>
          <p:cNvSpPr/>
          <p:nvPr/>
        </p:nvSpPr>
        <p:spPr>
          <a:xfrm>
            <a:off x="6236208" y="3520440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action  →  queued  →  synced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36208" y="3931920"/>
            <a:ext cx="2194560" cy="0"/>
          </a:xfrm>
          <a:prstGeom prst="line">
            <a:avLst/>
          </a:prstGeom>
          <a:noFill/>
          <a:ln w="19050">
            <a:solidFill>
              <a:srgbClr val="6C5CE7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236208" y="4041648"/>
            <a:ext cx="2221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connection required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Trust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2587752" cy="1645920"/>
          </a:xfrm>
          <a:prstGeom prst="roundRect">
            <a:avLst>
              <a:gd name="adj" fmla="val 3889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609344"/>
            <a:ext cx="3200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556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sessions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103120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 window + rotating refresh tokens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8124" y="1371600"/>
            <a:ext cx="2587752" cy="1645920"/>
          </a:xfrm>
          <a:prstGeom prst="roundRect">
            <a:avLst>
              <a:gd name="adj" fmla="val 3889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61004" y="1609344"/>
            <a:ext cx="3200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1" name="Text 9"/>
          <p:cNvSpPr/>
          <p:nvPr/>
        </p:nvSpPr>
        <p:spPr>
          <a:xfrm>
            <a:off x="3461004" y="17556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2FA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61004" y="2103120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code required on registration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371600"/>
            <a:ext cx="2587752" cy="1645920"/>
          </a:xfrm>
          <a:prstGeom prst="roundRect">
            <a:avLst>
              <a:gd name="adj" fmla="val 3889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36208" y="1609344"/>
            <a:ext cx="3200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7556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sign-in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36208" y="2103120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and GitHub via Passport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200400"/>
            <a:ext cx="2587752" cy="1645920"/>
          </a:xfrm>
          <a:prstGeom prst="roundRect">
            <a:avLst>
              <a:gd name="adj" fmla="val 3889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" y="3438144"/>
            <a:ext cx="3200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" y="35844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&amp; permissions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5800" y="3931920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access control per endpoint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78124" y="3200400"/>
            <a:ext cx="2587752" cy="1645920"/>
          </a:xfrm>
          <a:prstGeom prst="roundRect">
            <a:avLst>
              <a:gd name="adj" fmla="val 3889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61004" y="3438144"/>
            <a:ext cx="3200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3" name="Text 21"/>
          <p:cNvSpPr/>
          <p:nvPr/>
        </p:nvSpPr>
        <p:spPr>
          <a:xfrm>
            <a:off x="3461004" y="35844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detection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61004" y="3931920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spikes and privilege probing auto-flagged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53328" y="3200400"/>
            <a:ext cx="2587752" cy="1645920"/>
          </a:xfrm>
          <a:prstGeom prst="roundRect">
            <a:avLst>
              <a:gd name="adj" fmla="val 3889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36208" y="3438144"/>
            <a:ext cx="3200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7" name="Text 25"/>
          <p:cNvSpPr/>
          <p:nvPr/>
        </p:nvSpPr>
        <p:spPr>
          <a:xfrm>
            <a:off x="6236208" y="35844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 + HTTPS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236208" y="3931920"/>
            <a:ext cx="2221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authenticated action recorded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ORGANIZERS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&amp; Organizer Tools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37160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59105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dashboard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938528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sales, totals and purchase history at a glance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8124" y="137160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78124" y="137160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1" name="Text 9"/>
          <p:cNvSpPr/>
          <p:nvPr/>
        </p:nvSpPr>
        <p:spPr>
          <a:xfrm>
            <a:off x="3461004" y="159105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scanner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61004" y="1938528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tickets at the door in seconds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371600"/>
            <a:ext cx="2587752" cy="1600200"/>
          </a:xfrm>
          <a:prstGeom prst="roundRect">
            <a:avLst>
              <a:gd name="adj" fmla="val 4000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53328" y="1371600"/>
            <a:ext cx="2587752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59105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36208" y="1938528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users with AI-written narratives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200400"/>
            <a:ext cx="3977640" cy="1417320"/>
          </a:xfrm>
          <a:prstGeom prst="roundRect">
            <a:avLst>
              <a:gd name="adj" fmla="val 4516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200400"/>
            <a:ext cx="39776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&amp; ticket management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37673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create / update / delete with server-side validation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63440" y="3200400"/>
            <a:ext cx="3977640" cy="1417320"/>
          </a:xfrm>
          <a:prstGeom prst="roundRect">
            <a:avLst>
              <a:gd name="adj" fmla="val 4516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3200400"/>
            <a:ext cx="3977640" cy="54864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3" name="Text 21"/>
          <p:cNvSpPr/>
          <p:nvPr/>
        </p:nvSpPr>
        <p:spPr>
          <a:xfrm>
            <a:off x="489204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simulator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92040" y="37673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suspicious behavior live to showcase detection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1051560" cy="73152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371600"/>
            <a:ext cx="3977640" cy="3401568"/>
          </a:xfrm>
          <a:prstGeom prst="roundRect">
            <a:avLst>
              <a:gd name="adj" fmla="val 1882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55448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49808" y="2121408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" y="2651760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" y="25877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49808" y="3182112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" y="311810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 visualizations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9808" y="3712464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4" name="Text 12"/>
          <p:cNvSpPr/>
          <p:nvPr/>
        </p:nvSpPr>
        <p:spPr>
          <a:xfrm>
            <a:off x="1033272" y="364845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Modules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9808" y="4242816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6" name="Text 14"/>
          <p:cNvSpPr/>
          <p:nvPr/>
        </p:nvSpPr>
        <p:spPr>
          <a:xfrm>
            <a:off x="1033272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Tested: Vitest · Testing Library · Playwright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371600"/>
            <a:ext cx="3977640" cy="3401568"/>
          </a:xfrm>
          <a:prstGeom prst="roundRect">
            <a:avLst>
              <a:gd name="adj" fmla="val 1882"/>
            </a:avLst>
          </a:prstGeom>
          <a:solidFill>
            <a:srgbClr val="1A1535"/>
          </a:solidFill>
          <a:ln w="12700">
            <a:solidFill>
              <a:srgbClr val="2A20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55448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910328" y="2121408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0" name="Text 18"/>
          <p:cNvSpPr/>
          <p:nvPr/>
        </p:nvSpPr>
        <p:spPr>
          <a:xfrm>
            <a:off x="519379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5 — layered: routes / controllers / services / repositories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10328" y="2651760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2" name="Text 20"/>
          <p:cNvSpPr/>
          <p:nvPr/>
        </p:nvSpPr>
        <p:spPr>
          <a:xfrm>
            <a:off x="5193792" y="25877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(Sequelize) · MongoDB for chat &amp; logs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10328" y="3182112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4" name="Text 22"/>
          <p:cNvSpPr/>
          <p:nvPr/>
        </p:nvSpPr>
        <p:spPr>
          <a:xfrm>
            <a:off x="5193792" y="3118104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GraphQL alongside REST · WebSockets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910328" y="3712464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6" name="Text 24"/>
          <p:cNvSpPr/>
          <p:nvPr/>
        </p:nvSpPr>
        <p:spPr>
          <a:xfrm>
            <a:off x="5193792" y="3648456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Passport (local + OAuth) · Hugging Face inference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910328" y="4242816"/>
            <a:ext cx="164592" cy="4572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8" name="Text 26"/>
          <p:cNvSpPr/>
          <p:nvPr/>
        </p:nvSpPr>
        <p:spPr>
          <a:xfrm>
            <a:off x="5193792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Tested: Jest · Supertest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B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18872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pPr algn="ctr" indent="0" marL="0">
              <a:buNone/>
            </a:pPr>
            <a:r>
              <a:rPr lang="en-US" sz="5600" b="1" i="1" dirty="0">
                <a:solidFill>
                  <a:srgbClr val="6C5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02920" y="228600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A29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front row seats to the best events.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E4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Discovery, ticketing, AI guidance and security — one platform.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703320" y="3611880"/>
            <a:ext cx="1737360" cy="502920"/>
          </a:xfrm>
          <a:prstGeom prst="roundRect">
            <a:avLst>
              <a:gd name="adj" fmla="val 21818"/>
            </a:avLst>
          </a:prstGeom>
          <a:solidFill>
            <a:srgbClr val="E84393"/>
          </a:solidFill>
          <a:ln/>
        </p:spPr>
      </p:sp>
      <p:sp>
        <p:nvSpPr>
          <p:cNvPr id="8" name="Text 6"/>
          <p:cNvSpPr/>
          <p:nvPr/>
        </p:nvSpPr>
        <p:spPr>
          <a:xfrm>
            <a:off x="3703320" y="37033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FrontRow — Product Presentation</dc:title>
  <dc:subject>PptxGenJS Presentation</dc:subject>
  <dc:creator>FrontRow</dc:creator>
  <cp:lastModifiedBy>FrontRow</cp:lastModifiedBy>
  <cp:revision>1</cp:revision>
  <dcterms:created xsi:type="dcterms:W3CDTF">2026-06-11T17:18:22Z</dcterms:created>
  <dcterms:modified xsi:type="dcterms:W3CDTF">2026-06-11T17:18:22Z</dcterms:modified>
</cp:coreProperties>
</file>